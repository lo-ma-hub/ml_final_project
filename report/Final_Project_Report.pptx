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20"/>
  </p:notesMasterIdLst>
  <p:sldIdLst>
    <p:sldId id="266" r:id="rId6"/>
    <p:sldId id="267" r:id="rId7"/>
    <p:sldId id="257" r:id="rId8"/>
    <p:sldId id="259" r:id="rId9"/>
    <p:sldId id="268" r:id="rId10"/>
    <p:sldId id="269" r:id="rId11"/>
    <p:sldId id="260" r:id="rId12"/>
    <p:sldId id="261" r:id="rId13"/>
    <p:sldId id="262" r:id="rId14"/>
    <p:sldId id="270" r:id="rId15"/>
    <p:sldId id="272" r:id="rId16"/>
    <p:sldId id="273" r:id="rId17"/>
    <p:sldId id="274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50315-B59B-4935-1533-FE5CA74B7B2F}" v="1065" dt="2025-12-18T02:25:46.695"/>
    <p1510:client id="{BF2D0A19-4CCB-4071-8F20-4363A694F17A}" v="1017" dt="2025-12-18T02:34:38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01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C9D86-E726-4BC3-9B3B-826F86403FB6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BEF5B-0D25-463E-82C2-7CAAE1116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48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06743487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06743487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 slide 01">
    <p:bg>
      <p:bgPr>
        <a:solidFill>
          <a:srgbClr val="57068C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6949" y="1658591"/>
            <a:ext cx="8265600" cy="2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" name="Google Shape;11;p2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570596"/>
            <a:ext cx="1049175" cy="4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600" y="4159667"/>
            <a:ext cx="4761000" cy="10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307600" y="5526733"/>
            <a:ext cx="2436000" cy="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2179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 slide 01">
    <p:bg>
      <p:bgPr>
        <a:solidFill>
          <a:srgbClr val="57068C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6949" y="1658591"/>
            <a:ext cx="8265600" cy="2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" name="Google Shape;11;p2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570596"/>
            <a:ext cx="1049175" cy="4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600" y="4159667"/>
            <a:ext cx="4761000" cy="10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307600" y="5526733"/>
            <a:ext cx="2436000" cy="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8937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2">
  <p:cSld name="Title slide 02">
    <p:bg>
      <p:bgPr>
        <a:solidFill>
          <a:srgbClr val="57068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6949" y="1658591"/>
            <a:ext cx="8265600" cy="2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7" name="Google Shape;17;p3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570596"/>
            <a:ext cx="1049175" cy="4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7600" y="4159667"/>
            <a:ext cx="4761000" cy="10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307600" y="5526733"/>
            <a:ext cx="2436000" cy="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1079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 slide 04">
    <p:bg>
      <p:bgPr>
        <a:solidFill>
          <a:srgbClr val="57068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6949" y="1658591"/>
            <a:ext cx="8265600" cy="2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3" name="Google Shape;23;p4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570596"/>
            <a:ext cx="1049175" cy="4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307600" y="4159667"/>
            <a:ext cx="4761000" cy="10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307600" y="5526733"/>
            <a:ext cx="2436000" cy="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3235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5">
  <p:cSld name="Title slide 05">
    <p:bg>
      <p:bgPr>
        <a:solidFill>
          <a:srgbClr val="57068C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6949" y="1658591"/>
            <a:ext cx="8265600" cy="2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9" name="Google Shape;29;p5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570596"/>
            <a:ext cx="1049175" cy="4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07600" y="4159667"/>
            <a:ext cx="4761000" cy="10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307600" y="5526733"/>
            <a:ext cx="2436000" cy="8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6932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1536633"/>
            <a:ext cx="3345900" cy="42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114800" y="1567577"/>
            <a:ext cx="4192800" cy="41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7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18029" cy="4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1733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424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53" name="Google Shape;53;p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18029" cy="4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4418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311700" y="568544"/>
            <a:ext cx="43083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11700" y="2194973"/>
            <a:ext cx="3350400" cy="32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59" name="Google Shape;59;p10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18029" cy="4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5538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1"/>
            <a:ext cx="9144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407175" y="600200"/>
            <a:ext cx="8329500" cy="51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65" name="Google Shape;65;p11" descr="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22378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 descr=" 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94375" y="1644233"/>
            <a:ext cx="40791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ubTitle" idx="1"/>
          </p:nvPr>
        </p:nvSpPr>
        <p:spPr>
          <a:xfrm>
            <a:off x="294375" y="3737433"/>
            <a:ext cx="39558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7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72" name="Google Shape;72;p12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00513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-page image">
  <p:cSld name="Half-page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3803100" cy="15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>
            <a:off x="311700" y="3666867"/>
            <a:ext cx="3466500" cy="203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18029" cy="4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3644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4753260"/>
            <a:ext cx="4491300" cy="8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54267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1101125" y="1248600"/>
            <a:ext cx="6947400" cy="40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313700" y="521400"/>
            <a:ext cx="522300" cy="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564044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784178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101125" y="1248600"/>
            <a:ext cx="6947400" cy="40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4313700" y="521400"/>
            <a:ext cx="522300" cy="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564044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893888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1">
  <p:cSld name="Quote 1 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9144000" cy="685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101125" y="1248600"/>
            <a:ext cx="6947400" cy="40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313700" y="521400"/>
            <a:ext cx="522300" cy="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564044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45157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 hasCustomPrompt="1"/>
          </p:nvPr>
        </p:nvSpPr>
        <p:spPr>
          <a:xfrm>
            <a:off x="311700" y="543600"/>
            <a:ext cx="8520600" cy="2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2475675" y="4480483"/>
            <a:ext cx="4192800" cy="9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08" name="Google Shape;108;p18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6" y="6052161"/>
            <a:ext cx="776077" cy="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6022967"/>
            <a:ext cx="4192800" cy="4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2"/>
          </p:nvPr>
        </p:nvSpPr>
        <p:spPr>
          <a:xfrm>
            <a:off x="407175" y="3383733"/>
            <a:ext cx="8329200" cy="9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18029" cy="4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396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1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7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4249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424900" cy="4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35706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8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6949" y="2101193"/>
            <a:ext cx="8265600" cy="190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 algn="l"/>
            <a:r>
              <a:rPr lang="en-US" altLang="zh-CN" sz="5400"/>
              <a:t>Final Project: </a:t>
            </a:r>
            <a:r>
              <a:rPr lang="zh-CN" altLang="zh-CN" sz="5400"/>
              <a:t>PCA + MLP vs CNN for Object Localization</a:t>
            </a:r>
            <a:endParaRPr sz="3600"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07600" y="3977000"/>
            <a:ext cx="4761000" cy="779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altLang="zh-CN" b="1"/>
              <a:t>ECE-4563 Machine Learning Project — NYU Tandon</a:t>
            </a:r>
            <a:endParaRPr lang="en-US" altLang="zh-CN"/>
          </a:p>
          <a:p>
            <a:pPr marL="0" indent="0">
              <a:spcAft>
                <a:spcPts val="1600"/>
              </a:spcAft>
            </a:pP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2"/>
          </p:nvPr>
        </p:nvSpPr>
        <p:spPr>
          <a:xfrm>
            <a:off x="307600" y="5002300"/>
            <a:ext cx="3426600" cy="411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/>
              <a:t>PRESENTED BY Max Ma, Y</a:t>
            </a:r>
            <a:r>
              <a:rPr lang="en-US" altLang="zh-CN" err="1"/>
              <a:t>anbo</a:t>
            </a:r>
            <a:r>
              <a:rPr lang="en"/>
              <a:t> Wang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-85591" y="1507183"/>
            <a:ext cx="4657591" cy="3676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sz="6000"/>
              <a:t>Problem Statement</a:t>
            </a:r>
            <a:endParaRPr sz="5400"/>
          </a:p>
        </p:txBody>
      </p:sp>
      <p:cxnSp>
        <p:nvCxnSpPr>
          <p:cNvPr id="136" name="Google Shape;136;p23"/>
          <p:cNvCxnSpPr/>
          <p:nvPr/>
        </p:nvCxnSpPr>
        <p:spPr>
          <a:xfrm>
            <a:off x="2900432" y="3376236"/>
            <a:ext cx="6216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4AC25-1CA3-FDFF-CA46-AAEB1A209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13211" y="1528762"/>
            <a:ext cx="419417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localization is a fundamental computer vision 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predict the bounding box of an object in an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study localization of a single MNIST digit placed on a larger canvas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a </a:t>
            </a:r>
            <a:r>
              <a:rPr kumimoji="0" lang="zh-CN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ML pipeline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an </a:t>
            </a:r>
            <a:r>
              <a:rPr kumimoji="0" lang="zh-CN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deep learning approach</a:t>
            </a:r>
            <a:endParaRPr kumimoji="0" lang="zh-CN" altLang="zh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Dataset &amp; Task Definition</a:t>
            </a:r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407710-F5F8-D3C2-2BEB-0A3A80A48F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79882" y="1462740"/>
            <a:ext cx="81375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</a:t>
            </a:r>
            <a:r>
              <a:rPr kumimoji="0" lang="zh-CN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MNIST-on-Canvas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64 × 64 grayscale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bounding box parameters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B6DC337E-D992-1968-D673-22AA906E7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72" y="3183534"/>
            <a:ext cx="4133453" cy="205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MNIST extended: a dataset for semantic segmentation and object ...">
            <a:extLst>
              <a:ext uri="{FF2B5EF4-FFF2-40B4-BE49-F238E27FC236}">
                <a16:creationId xmlns:a16="http://schemas.microsoft.com/office/drawing/2014/main" id="{6E01239F-7BD0-21D5-E251-484A08A21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866" y="3293265"/>
            <a:ext cx="1648909" cy="164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093636-7D78-59FB-50B3-78507C02F767}"/>
              </a:ext>
            </a:extLst>
          </p:cNvPr>
          <p:cNvSpPr txBox="1"/>
          <p:nvPr/>
        </p:nvSpPr>
        <p:spPr>
          <a:xfrm>
            <a:off x="457200" y="5471309"/>
            <a:ext cx="4253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Figure 1: Sample images from MNIST test dataset</a:t>
            </a:r>
            <a:endParaRPr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A9452A-DDB6-C63B-E4D0-9C38D3EF5ECA}"/>
              </a:ext>
            </a:extLst>
          </p:cNvPr>
          <p:cNvSpPr txBox="1"/>
          <p:nvPr/>
        </p:nvSpPr>
        <p:spPr>
          <a:xfrm>
            <a:off x="5141161" y="5471342"/>
            <a:ext cx="4253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Figure 2: (a) Input, (b) Expected Output</a:t>
            </a:r>
            <a:endParaRPr lang="zh-CN" altLang="en-US" sz="1400"/>
          </a:p>
        </p:txBody>
      </p:sp>
      <p:pic>
        <p:nvPicPr>
          <p:cNvPr id="2055" name="Picture 7" descr="MNIST extended input example">
            <a:extLst>
              <a:ext uri="{FF2B5EF4-FFF2-40B4-BE49-F238E27FC236}">
                <a16:creationId xmlns:a16="http://schemas.microsoft.com/office/drawing/2014/main" id="{4525A153-EEFB-0C49-F674-84FB5E750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161" y="3284740"/>
            <a:ext cx="1665958" cy="166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3D79D04-4845-421F-0988-E39D69CF35BE}"/>
              </a:ext>
            </a:extLst>
          </p:cNvPr>
          <p:cNvSpPr txBox="1"/>
          <p:nvPr/>
        </p:nvSpPr>
        <p:spPr>
          <a:xfrm>
            <a:off x="5797760" y="5026354"/>
            <a:ext cx="655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(a)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E6DA86-E916-D4DF-DA98-8A745D33D8EE}"/>
              </a:ext>
            </a:extLst>
          </p:cNvPr>
          <p:cNvSpPr txBox="1"/>
          <p:nvPr/>
        </p:nvSpPr>
        <p:spPr>
          <a:xfrm>
            <a:off x="7497871" y="5026354"/>
            <a:ext cx="655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(b)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09350" y="1592687"/>
            <a:ext cx="8229600" cy="565150"/>
          </a:xfrm>
        </p:spPr>
        <p:txBody>
          <a:bodyPr>
            <a:normAutofit fontScale="92500" lnSpcReduction="10000"/>
          </a:bodyPr>
          <a:lstStyle/>
          <a:p>
            <a:pPr marL="85725" indent="0">
              <a:buNone/>
            </a:pPr>
            <a:r>
              <a:rPr lang="en-US" sz="2400" b="1"/>
              <a:t>T</a:t>
            </a:r>
            <a:r>
              <a:rPr lang="en-US" altLang="zh-CN" sz="2400" b="1"/>
              <a:t>raining Data:</a:t>
            </a:r>
          </a:p>
          <a:p>
            <a:endParaRPr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BD2C6D-9689-95F3-31BD-05E6436FCD5F}"/>
                  </a:ext>
                </a:extLst>
              </p:cNvPr>
              <p:cNvSpPr txBox="1"/>
              <p:nvPr/>
            </p:nvSpPr>
            <p:spPr>
              <a:xfrm>
                <a:off x="-418780" y="2197372"/>
                <a:ext cx="4572000" cy="546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BD2C6D-9689-95F3-31BD-05E6436FC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8780" y="2197372"/>
                <a:ext cx="4572000" cy="5467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B65F8BF-655E-1096-5D9D-391581092AD3}"/>
                  </a:ext>
                </a:extLst>
              </p:cNvPr>
              <p:cNvSpPr txBox="1"/>
              <p:nvPr/>
            </p:nvSpPr>
            <p:spPr>
              <a:xfrm>
                <a:off x="925925" y="2922923"/>
                <a:ext cx="705394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𝑤h𝑒𝑟𝑒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64×64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B65F8BF-655E-1096-5D9D-391581092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25" y="2922923"/>
                <a:ext cx="705394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082525-EF6A-EC77-45C0-423F9AA16DE3}"/>
              </a:ext>
            </a:extLst>
          </p:cNvPr>
          <p:cNvSpPr txBox="1">
            <a:spLocks/>
          </p:cNvSpPr>
          <p:nvPr/>
        </p:nvSpPr>
        <p:spPr>
          <a:xfrm>
            <a:off x="457200" y="3523858"/>
            <a:ext cx="8229600" cy="56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marR="0" lvl="1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–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028700" marR="0" lvl="2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371600" marR="0" lvl="3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–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1714500" marR="0" lvl="4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»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057400" marR="0" lvl="5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400300" marR="0" lvl="6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2743200" marR="0" lvl="7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086100" marR="0" lvl="8" indent="-257175" algn="l" rtl="0">
              <a:lnSpc>
                <a:spcPct val="115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85725" indent="0" defTabSz="914400">
              <a:buFont typeface="Montserrat"/>
              <a:buNone/>
            </a:pPr>
            <a:r>
              <a:rPr lang="en-US" sz="2400" b="1" kern="0"/>
              <a:t>We choose MSE as the Loss function</a:t>
            </a:r>
            <a:r>
              <a:rPr lang="en-US" altLang="zh-CN" sz="2400" b="1" kern="0"/>
              <a:t>:</a:t>
            </a:r>
          </a:p>
          <a:p>
            <a:pPr defTabSz="914400"/>
            <a:endParaRPr lang="en-US" sz="2400" b="1" ker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201E1D-BEC3-3F4F-AD08-17340C21E76B}"/>
                  </a:ext>
                </a:extLst>
              </p:cNvPr>
              <p:cNvSpPr txBox="1"/>
              <p:nvPr/>
            </p:nvSpPr>
            <p:spPr>
              <a:xfrm>
                <a:off x="1413860" y="4065800"/>
                <a:ext cx="6946366" cy="12115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201E1D-BEC3-3F4F-AD08-17340C21E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860" y="4065800"/>
                <a:ext cx="6946366" cy="1211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D074-D23D-233E-7CCC-96139424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BB4E-B025-4D87-3A7E-0EFF4695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Training Procedure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051B0-AC10-CE69-E61E-DB9B466AA22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17358" y="1531965"/>
            <a:ext cx="8229600" cy="565150"/>
          </a:xfrm>
        </p:spPr>
        <p:txBody>
          <a:bodyPr>
            <a:normAutofit fontScale="92500" lnSpcReduction="10000"/>
          </a:bodyPr>
          <a:lstStyle/>
          <a:p>
            <a:pPr marL="85725" indent="0">
              <a:buNone/>
            </a:pPr>
            <a:r>
              <a:rPr lang="en-US" sz="2400" b="1"/>
              <a:t>1. </a:t>
            </a:r>
            <a:r>
              <a:rPr lang="en-US" altLang="zh-CN" sz="2400" b="1"/>
              <a:t>Data Splitting and Preparation:</a:t>
            </a:r>
          </a:p>
          <a:p>
            <a:endParaRPr sz="24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461707-AC0C-0A40-3CA1-80AEF20DEF5D}"/>
              </a:ext>
            </a:extLst>
          </p:cNvPr>
          <p:cNvSpPr txBox="1"/>
          <p:nvPr/>
        </p:nvSpPr>
        <p:spPr>
          <a:xfrm>
            <a:off x="576477" y="2305353"/>
            <a:ext cx="78953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/>
              <a:t>•  Dataset is split into a pool set and a held-out test set</a:t>
            </a:r>
          </a:p>
          <a:p>
            <a:r>
              <a:rPr lang="zh-CN" altLang="en-US" sz="2400"/>
              <a:t>•  Pool set is used for training and validation</a:t>
            </a:r>
          </a:p>
          <a:p>
            <a:r>
              <a:rPr lang="zh-CN" altLang="en-US" sz="2400"/>
              <a:t>•  Test set is used only for final evaluation</a:t>
            </a:r>
          </a:p>
          <a:p>
            <a:r>
              <a:rPr lang="zh-CN" altLang="en-US" sz="2400"/>
              <a:t>•  Prevents information leakage during model selection</a:t>
            </a:r>
          </a:p>
        </p:txBody>
      </p:sp>
      <p:pic>
        <p:nvPicPr>
          <p:cNvPr id="13" name="图片 12" descr="图形用户界面, 文本&#10;&#10;AI 生成的内容可能不正确。">
            <a:extLst>
              <a:ext uri="{FF2B5EF4-FFF2-40B4-BE49-F238E27FC236}">
                <a16:creationId xmlns:a16="http://schemas.microsoft.com/office/drawing/2014/main" id="{512D925D-DB92-1FA2-C6F1-531B98C14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72" y="4209322"/>
            <a:ext cx="7268589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0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CBEE-A515-8CA9-03FE-273B4E9B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79EB-0EDF-5AA3-67D2-68B5803F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Training Procedure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EFD3-D829-62BB-E1A1-2FE3E096A6D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12426" y="1519238"/>
            <a:ext cx="8229600" cy="565150"/>
          </a:xfrm>
        </p:spPr>
        <p:txBody>
          <a:bodyPr>
            <a:normAutofit fontScale="92500" lnSpcReduction="10000"/>
          </a:bodyPr>
          <a:lstStyle/>
          <a:p>
            <a:pPr marL="85725" indent="0">
              <a:buNone/>
            </a:pPr>
            <a:r>
              <a:rPr lang="en-US" sz="2400" b="1"/>
              <a:t>2. </a:t>
            </a:r>
            <a:r>
              <a:rPr lang="en-US" altLang="zh-CN" sz="2400" b="1"/>
              <a:t>Model Training (MLP / CNN):</a:t>
            </a:r>
          </a:p>
          <a:p>
            <a:endParaRPr sz="24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C9BEAA-AF2E-B95D-4AA0-155C157BBF96}"/>
              </a:ext>
            </a:extLst>
          </p:cNvPr>
          <p:cNvSpPr txBox="1"/>
          <p:nvPr/>
        </p:nvSpPr>
        <p:spPr>
          <a:xfrm>
            <a:off x="318756" y="2188636"/>
            <a:ext cx="44126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/>
              <a:t>•  Models are trained using supervised learning</a:t>
            </a:r>
          </a:p>
          <a:p>
            <a:r>
              <a:rPr lang="en-US" altLang="zh-CN" sz="2400"/>
              <a:t>•  Mini-batch gradient descent is used</a:t>
            </a:r>
          </a:p>
          <a:p>
            <a:r>
              <a:rPr lang="en-US" altLang="zh-CN" sz="2400"/>
              <a:t>•  Loss function: Mean Squared Error (MSE)</a:t>
            </a:r>
          </a:p>
          <a:p>
            <a:r>
              <a:rPr lang="en-US" altLang="zh-CN" sz="2400"/>
              <a:t>•  Optimizer: Adam</a:t>
            </a:r>
          </a:p>
          <a:p>
            <a:r>
              <a:rPr lang="en-US" altLang="zh-CN" sz="2400"/>
              <a:t>•  Parameters updated via backpropagation</a:t>
            </a:r>
            <a:endParaRPr lang="zh-CN" altLang="en-US" sz="240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7EFCD066-8427-A287-435B-BEA217950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38313"/>
            <a:ext cx="4491691" cy="273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8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+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sz="2400">
                <a:solidFill>
                  <a:schemeClr val="tx1"/>
                </a:solidFill>
                <a:latin typeface="Arial"/>
              </a:rPr>
              <a:t>Input 64×64 image was flattened to a 4069 dim-vector and standardized before entering MLP regressor</a:t>
            </a:r>
          </a:p>
          <a:p>
            <a:r>
              <a:rPr lang="en-US" sz="2400">
                <a:solidFill>
                  <a:schemeClr val="tx1"/>
                </a:solidFill>
                <a:latin typeface="Arial"/>
              </a:rPr>
              <a:t>MLP regressor predicts bounding box</a:t>
            </a:r>
          </a:p>
          <a:p>
            <a:r>
              <a:rPr lang="en-US" sz="2400">
                <a:solidFill>
                  <a:schemeClr val="tx1"/>
                </a:solidFill>
                <a:latin typeface="Arial"/>
              </a:rPr>
              <a:t>Sigmoid output activation applied for enforcing valid box range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30BEB-52A7-944D-30E2-4A0DDF0D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90" y="4091009"/>
            <a:ext cx="6775249" cy="11443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ABAFDA-77FD-499A-52C2-9F22D8446E02}"/>
              </a:ext>
            </a:extLst>
          </p:cNvPr>
          <p:cNvSpPr txBox="1"/>
          <p:nvPr/>
        </p:nvSpPr>
        <p:spPr>
          <a:xfrm>
            <a:off x="578630" y="5231827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MLP layer widths (example k=64)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Component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311700" y="1352089"/>
            <a:ext cx="8229600" cy="4931282"/>
          </a:xfrm>
        </p:spPr>
        <p:txBody>
          <a:bodyPr/>
          <a:lstStyle/>
          <a:p>
            <a:r>
              <a:rPr lang="en-US" sz="2400">
                <a:solidFill>
                  <a:schemeClr val="tx1"/>
                </a:solidFill>
                <a:latin typeface="Arial"/>
                <a:cs typeface="Arial"/>
              </a:rPr>
              <a:t>A 5‑Fold cross‑validation was applied on training pool for selecting best dimensions from 16-512 with the highest </a:t>
            </a:r>
            <a:r>
              <a:rPr lang="en-US" sz="2400" err="1">
                <a:solidFill>
                  <a:schemeClr val="tx1"/>
                </a:solidFill>
                <a:latin typeface="Arial"/>
                <a:cs typeface="Arial"/>
              </a:rPr>
              <a:t>IoU</a:t>
            </a:r>
            <a:r>
              <a:rPr lang="en-US" sz="2400">
                <a:solidFill>
                  <a:schemeClr val="tx1"/>
                </a:solidFill>
                <a:latin typeface="Arial"/>
                <a:cs typeface="Arial"/>
              </a:rPr>
              <a:t> </a:t>
            </a:r>
          </a:p>
          <a:p>
            <a:r>
              <a:rPr lang="en-US" sz="2400">
                <a:solidFill>
                  <a:schemeClr val="tx1"/>
                </a:solidFill>
                <a:latin typeface="Arial"/>
                <a:cs typeface="Arial"/>
              </a:rPr>
              <a:t>K-Fold cross-validation applied only on training set</a:t>
            </a:r>
          </a:p>
          <a:p>
            <a:pPr>
              <a:lnSpc>
                <a:spcPct val="114999"/>
              </a:lnSpc>
            </a:pPr>
            <a:r>
              <a:rPr lang="en-US" sz="2400">
                <a:solidFill>
                  <a:schemeClr val="tx1"/>
                </a:solidFill>
                <a:latin typeface="Arial"/>
                <a:cs typeface="Arial"/>
              </a:rPr>
              <a:t>Best dimension count: k = 64</a:t>
            </a:r>
          </a:p>
          <a:p>
            <a:pPr>
              <a:lnSpc>
                <a:spcPct val="114999"/>
              </a:lnSpc>
            </a:pPr>
            <a:endParaRPr lang="en-US" sz="2000"/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ED9AF46B-6F8D-E5D6-F28C-7978DDC7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6" r="1"/>
          <a:stretch>
            <a:fillRect/>
          </a:stretch>
        </p:blipFill>
        <p:spPr>
          <a:xfrm>
            <a:off x="3419243" y="3611726"/>
            <a:ext cx="4699416" cy="3072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A0719B-53E5-7C00-9518-F9B0417FD896}"/>
              </a:ext>
            </a:extLst>
          </p:cNvPr>
          <p:cNvSpPr txBox="1"/>
          <p:nvPr/>
        </p:nvSpPr>
        <p:spPr>
          <a:xfrm>
            <a:off x="311700" y="4580627"/>
            <a:ext cx="43754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Best k by mean </a:t>
            </a:r>
            <a:r>
              <a:rPr lang="en-US" err="1"/>
              <a:t>IoU</a:t>
            </a:r>
            <a:r>
              <a:rPr lang="en-US"/>
              <a:t>: k = 64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End‑to‑End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0" y="1351605"/>
            <a:ext cx="8229600" cy="4774558"/>
          </a:xfrm>
        </p:spPr>
        <p:txBody>
          <a:bodyPr/>
          <a:lstStyle/>
          <a:p>
            <a:r>
              <a:rPr lang="en-US" sz="2000">
                <a:solidFill>
                  <a:schemeClr val="tx1"/>
                </a:solidFill>
                <a:latin typeface="Arial"/>
              </a:rPr>
              <a:t>Constructed with 3 convolution blocks, 1 average pooling on 4 by 4 region and 2 linear layers</a:t>
            </a:r>
          </a:p>
          <a:p>
            <a:pPr>
              <a:lnSpc>
                <a:spcPct val="114999"/>
              </a:lnSpc>
            </a:pPr>
            <a:r>
              <a:rPr lang="en-US" sz="2000">
                <a:solidFill>
                  <a:schemeClr val="tx1"/>
                </a:solidFill>
                <a:latin typeface="Arial"/>
              </a:rPr>
              <a:t>Directly regressed the bounding box from the input image</a:t>
            </a:r>
          </a:p>
          <a:p>
            <a:pPr>
              <a:lnSpc>
                <a:spcPct val="114999"/>
              </a:lnSpc>
            </a:pPr>
            <a:r>
              <a:rPr lang="en-US" sz="2000">
                <a:solidFill>
                  <a:schemeClr val="tx1"/>
                </a:solidFill>
                <a:latin typeface="Arial"/>
              </a:rPr>
              <a:t>Trained with MSE loss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64BDA5-A7B9-6EF2-8196-3756E35D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5"/>
          <a:stretch>
            <a:fillRect/>
          </a:stretch>
        </p:blipFill>
        <p:spPr>
          <a:xfrm>
            <a:off x="547141" y="3151322"/>
            <a:ext cx="4484525" cy="2673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B55776-6F5D-AA99-3496-C72753BA2BC8}"/>
              </a:ext>
            </a:extLst>
          </p:cNvPr>
          <p:cNvSpPr txBox="1"/>
          <p:nvPr/>
        </p:nvSpPr>
        <p:spPr>
          <a:xfrm>
            <a:off x="5197805" y="3842756"/>
            <a:ext cx="357898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CNN tensor shapes for one batch (B,C,H,W)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AC36-05BD-5824-0236-5AA67CA38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C11B-E09D-9FC9-2045-5DC90A90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Training Procedure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EDBD4-9AFF-FAF7-3E63-3B34E57F251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301750"/>
            <a:ext cx="8229600" cy="566738"/>
          </a:xfrm>
        </p:spPr>
        <p:txBody>
          <a:bodyPr>
            <a:normAutofit fontScale="92500" lnSpcReduction="10000"/>
          </a:bodyPr>
          <a:lstStyle/>
          <a:p>
            <a:pPr marL="85725" indent="0">
              <a:buNone/>
            </a:pPr>
            <a:r>
              <a:rPr lang="en-US" sz="2400" b="1"/>
              <a:t>3. </a:t>
            </a:r>
            <a:r>
              <a:rPr lang="en-US" altLang="zh-CN" sz="2400" b="1"/>
              <a:t>Cross-Validation for PCA+MLP:</a:t>
            </a:r>
          </a:p>
          <a:p>
            <a:endParaRPr sz="24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3FFF45-0376-D2EE-EDDE-292FE76457D6}"/>
              </a:ext>
            </a:extLst>
          </p:cNvPr>
          <p:cNvSpPr txBox="1"/>
          <p:nvPr/>
        </p:nvSpPr>
        <p:spPr>
          <a:xfrm>
            <a:off x="318756" y="2020794"/>
            <a:ext cx="83680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/>
              <a:t>•  PCA dimension is treated as a hyperparameter</a:t>
            </a:r>
          </a:p>
          <a:p>
            <a:r>
              <a:rPr lang="en-US" altLang="zh-CN" sz="2000"/>
              <a:t>•  K-fold cross-validation is performed on the pool set</a:t>
            </a:r>
          </a:p>
          <a:p>
            <a:r>
              <a:rPr lang="en-US" altLang="zh-CN" sz="2000"/>
              <a:t>•  Standardization and PCA are fit only on training folds</a:t>
            </a:r>
          </a:p>
          <a:p>
            <a:r>
              <a:rPr lang="en-US" altLang="zh-CN" sz="2000"/>
              <a:t>•  Mean </a:t>
            </a:r>
            <a:r>
              <a:rPr lang="en-US" altLang="zh-CN" sz="2000" err="1"/>
              <a:t>IoU</a:t>
            </a:r>
            <a:r>
              <a:rPr lang="en-US" altLang="zh-CN" sz="2000"/>
              <a:t> across folds is used to select optimal PCA dimension</a:t>
            </a:r>
            <a:endParaRPr lang="zh-CN" altLang="en-US" sz="200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4410DA2-5053-312D-AB38-E03023CF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68" t="41816" r="1958" b="7337"/>
          <a:stretch>
            <a:fillRect/>
          </a:stretch>
        </p:blipFill>
        <p:spPr>
          <a:xfrm>
            <a:off x="1469036" y="4008060"/>
            <a:ext cx="6970426" cy="21666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87EF6B-F97C-FF93-95A3-F44DCF75E119}"/>
                  </a:ext>
                </a:extLst>
              </p:cNvPr>
              <p:cNvSpPr txBox="1"/>
              <p:nvPr/>
            </p:nvSpPr>
            <p:spPr>
              <a:xfrm>
                <a:off x="2601661" y="3425252"/>
                <a:ext cx="3844977" cy="9021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pos m:val="top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CN" sz="2400" i="0">
                                          <a:latin typeface="Cambria Math" panose="02040503050406030204" pitchFamily="18" charset="0"/>
                                        </a:rPr>
                                        <m:t>IoU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/>
              </a:p>
              <a:p>
                <a:endParaRPr lang="zh-CN" altLang="en-US" sz="240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87EF6B-F97C-FF93-95A3-F44DCF75E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661" y="3425252"/>
                <a:ext cx="3844977" cy="902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426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314E-AB4B-DF4A-9D56-C9FF1741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86ED-C765-B826-B339-0AC3DBDC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Training Procedure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67C35-18E0-07B1-C9F7-A64434CE29C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417638"/>
            <a:ext cx="8229600" cy="566737"/>
          </a:xfrm>
        </p:spPr>
        <p:txBody>
          <a:bodyPr>
            <a:normAutofit fontScale="92500" lnSpcReduction="10000"/>
          </a:bodyPr>
          <a:lstStyle/>
          <a:p>
            <a:pPr marL="85725" indent="0">
              <a:buNone/>
            </a:pPr>
            <a:r>
              <a:rPr lang="en-US" sz="2400" b="1"/>
              <a:t>4. </a:t>
            </a:r>
            <a:r>
              <a:rPr lang="en-US" altLang="zh-CN" sz="2400" b="1"/>
              <a:t>Final Training on Full Pool Set:</a:t>
            </a:r>
          </a:p>
          <a:p>
            <a:endParaRPr sz="24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C08C70-DE7F-E72A-3AD0-889A4D405157}"/>
              </a:ext>
            </a:extLst>
          </p:cNvPr>
          <p:cNvSpPr txBox="1"/>
          <p:nvPr/>
        </p:nvSpPr>
        <p:spPr>
          <a:xfrm>
            <a:off x="318756" y="2228671"/>
            <a:ext cx="8368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/>
              <a:t>• Final model is retrained using the entire pool set</a:t>
            </a:r>
          </a:p>
          <a:p>
            <a:r>
              <a:rPr lang="en-US" altLang="zh-CN" sz="2400"/>
              <a:t>• Same training procedure used as in cross-validation</a:t>
            </a:r>
          </a:p>
          <a:p>
            <a:r>
              <a:rPr lang="en-US" altLang="zh-CN" sz="2400"/>
              <a:t>• Fixed number of training epochs</a:t>
            </a:r>
            <a:endParaRPr lang="zh-CN" altLang="en-US" sz="240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AD7964A6-787E-4E08-262B-AED331382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24278"/>
            <a:ext cx="8392696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77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6B39-4D12-2AFB-B8B5-257F3977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A86D-CB86-A7C6-67C3-505E1E7C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26" y="593423"/>
            <a:ext cx="8424900" cy="763600"/>
          </a:xfrm>
        </p:spPr>
        <p:txBody>
          <a:bodyPr/>
          <a:lstStyle/>
          <a:p>
            <a:r>
              <a:rPr lang="en-US" altLang="zh-CN"/>
              <a:t>Evaluation Results</a:t>
            </a: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9F29BD-3F3F-41D5-5FEC-DF179F678EF8}"/>
              </a:ext>
            </a:extLst>
          </p:cNvPr>
          <p:cNvSpPr txBox="1"/>
          <p:nvPr/>
        </p:nvSpPr>
        <p:spPr>
          <a:xfrm>
            <a:off x="424126" y="1519803"/>
            <a:ext cx="83680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PCA + MLP achieves competitive localization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CNN achieves higher mean </a:t>
            </a:r>
            <a:r>
              <a:rPr lang="en-US" altLang="zh-CN" sz="2400" b="1" err="1"/>
              <a:t>IoU</a:t>
            </a:r>
            <a:r>
              <a:rPr lang="en-US" altLang="zh-CN" sz="2400" b="1"/>
              <a:t> on test 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CNN benefits from spatial feature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Both models evaluated on held‑out test data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9670D0-5329-3912-EE45-A0F7CF2C9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071222"/>
              </p:ext>
            </p:extLst>
          </p:nvPr>
        </p:nvGraphicFramePr>
        <p:xfrm>
          <a:off x="1481258" y="3924084"/>
          <a:ext cx="6299555" cy="18961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71244">
                  <a:extLst>
                    <a:ext uri="{9D8B030D-6E8A-4147-A177-3AD203B41FA5}">
                      <a16:colId xmlns:a16="http://schemas.microsoft.com/office/drawing/2014/main" val="3796590827"/>
                    </a:ext>
                  </a:extLst>
                </a:gridCol>
                <a:gridCol w="1886538">
                  <a:extLst>
                    <a:ext uri="{9D8B030D-6E8A-4147-A177-3AD203B41FA5}">
                      <a16:colId xmlns:a16="http://schemas.microsoft.com/office/drawing/2014/main" val="647452988"/>
                    </a:ext>
                  </a:extLst>
                </a:gridCol>
                <a:gridCol w="1941773">
                  <a:extLst>
                    <a:ext uri="{9D8B030D-6E8A-4147-A177-3AD203B41FA5}">
                      <a16:colId xmlns:a16="http://schemas.microsoft.com/office/drawing/2014/main" val="3311122950"/>
                    </a:ext>
                  </a:extLst>
                </a:gridCol>
              </a:tblGrid>
              <a:tr h="62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Test MSE (↓)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Mean </a:t>
                      </a:r>
                      <a:r>
                        <a:rPr lang="en-US" sz="2000" b="1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IoU</a:t>
                      </a: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(↑)</a:t>
                      </a:r>
                      <a:endParaRPr lang="en-US" sz="2000">
                        <a:effectLst/>
                        <a:latin typeface="Arial"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928039"/>
                  </a:ext>
                </a:extLst>
              </a:tr>
              <a:tr h="64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PCA + MLP (k=64)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E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0.000941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E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0.7825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120655"/>
                  </a:ext>
                </a:extLst>
              </a:tr>
              <a:tr h="624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CNN Regressor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0.000683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0.8134</a:t>
                      </a:r>
                      <a:endParaRPr lang="en-US" sz="2000">
                        <a:effectLst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58863"/>
                  </a:ext>
                </a:extLst>
              </a:tr>
            </a:tbl>
          </a:graphicData>
        </a:graphic>
      </p:graphicFrame>
      <p:sp>
        <p:nvSpPr>
          <p:cNvPr id="6" name="TextBox 6">
            <a:extLst>
              <a:ext uri="{FF2B5EF4-FFF2-40B4-BE49-F238E27FC236}">
                <a16:creationId xmlns:a16="http://schemas.microsoft.com/office/drawing/2014/main" id="{70ED2FBC-00BD-82D5-E5AE-9A45B9CEBB93}"/>
              </a:ext>
            </a:extLst>
          </p:cNvPr>
          <p:cNvSpPr txBox="1"/>
          <p:nvPr/>
        </p:nvSpPr>
        <p:spPr>
          <a:xfrm>
            <a:off x="1481258" y="3517960"/>
            <a:ext cx="59500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>
                    <a:lumMod val="10000"/>
                  </a:schemeClr>
                </a:solidFill>
                <a:cs typeface="Arial"/>
              </a:rPr>
              <a:t>Table 1: Table for final MSE/</a:t>
            </a:r>
            <a:r>
              <a:rPr lang="en-US" b="1" err="1">
                <a:solidFill>
                  <a:schemeClr val="tx2">
                    <a:lumMod val="10000"/>
                  </a:schemeClr>
                </a:solidFill>
                <a:cs typeface="Arial"/>
              </a:rPr>
              <a:t>IoU</a:t>
            </a:r>
            <a:r>
              <a:rPr lang="en-US" b="1">
                <a:solidFill>
                  <a:schemeClr val="tx2">
                    <a:lumMod val="10000"/>
                  </a:schemeClr>
                </a:solidFill>
                <a:cs typeface="Arial"/>
              </a:rPr>
              <a:t> result for two models</a:t>
            </a:r>
            <a:endParaRPr lang="en-US" b="1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249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F4F4-D606-709D-CB10-ED8F12D7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F7FC-6BEF-7A90-CEFC-1E3A375E9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26" y="593423"/>
            <a:ext cx="8424900" cy="763600"/>
          </a:xfrm>
        </p:spPr>
        <p:txBody>
          <a:bodyPr/>
          <a:lstStyle/>
          <a:p>
            <a:r>
              <a:rPr lang="en-US" altLang="zh-CN"/>
              <a:t>Visual Evaluation Results</a:t>
            </a:r>
            <a:endParaRPr/>
          </a:p>
        </p:txBody>
      </p:sp>
      <p:pic>
        <p:nvPicPr>
          <p:cNvPr id="3" name="Picture 3" descr="A screen shot of a number&#10;&#10;AI-generated content may be incorrect.">
            <a:extLst>
              <a:ext uri="{FF2B5EF4-FFF2-40B4-BE49-F238E27FC236}">
                <a16:creationId xmlns:a16="http://schemas.microsoft.com/office/drawing/2014/main" id="{1BDA37AD-E6C8-5F3C-1BF1-E5C36B9D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1666875"/>
            <a:ext cx="3328988" cy="3293574"/>
          </a:xfrm>
          <a:prstGeom prst="rect">
            <a:avLst/>
          </a:prstGeom>
        </p:spPr>
      </p:pic>
      <p:pic>
        <p:nvPicPr>
          <p:cNvPr id="5" name="Picture 4" descr="A screen shot of a number&#10;&#10;AI-generated content may be incorrect.">
            <a:extLst>
              <a:ext uri="{FF2B5EF4-FFF2-40B4-BE49-F238E27FC236}">
                <a16:creationId xmlns:a16="http://schemas.microsoft.com/office/drawing/2014/main" id="{2DB9DF6F-5C8C-097C-ACFB-686E782F2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6" y="1666875"/>
            <a:ext cx="3428926" cy="3360250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8BC0A680-9972-CCBE-7A77-1E006DFFCA24}"/>
              </a:ext>
            </a:extLst>
          </p:cNvPr>
          <p:cNvSpPr txBox="1"/>
          <p:nvPr/>
        </p:nvSpPr>
        <p:spPr>
          <a:xfrm>
            <a:off x="502170" y="5063701"/>
            <a:ext cx="376011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cs typeface="Arial"/>
              </a:rPr>
              <a:t>Figure 3: Sample for PCA+MLP Model Prediction VS. Ground Truth</a:t>
            </a:r>
            <a:endParaRPr lang="en-US" sz="160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4FCB2D6-5DEE-9521-CCA5-29611E2FB028}"/>
              </a:ext>
            </a:extLst>
          </p:cNvPr>
          <p:cNvSpPr txBox="1"/>
          <p:nvPr/>
        </p:nvSpPr>
        <p:spPr>
          <a:xfrm>
            <a:off x="5100402" y="5063700"/>
            <a:ext cx="35414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cs typeface="Arial"/>
              </a:rPr>
              <a:t>Figure 4: Sample for CNN Model Prediction VS. Ground Truth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50333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0" y="1600200"/>
            <a:ext cx="9145034" cy="4525963"/>
          </a:xfrm>
        </p:spPr>
        <p:txBody>
          <a:bodyPr/>
          <a:lstStyle/>
          <a:p>
            <a:r>
              <a:rPr lang="en-US" sz="2400">
                <a:solidFill>
                  <a:schemeClr val="tx1"/>
                </a:solidFill>
                <a:latin typeface="Arial"/>
              </a:rPr>
              <a:t>PCA + MLP offers interpretability and efficiency</a:t>
            </a:r>
          </a:p>
          <a:p>
            <a:r>
              <a:rPr lang="en-US" sz="2400">
                <a:solidFill>
                  <a:schemeClr val="tx1"/>
                </a:solidFill>
                <a:latin typeface="Arial"/>
              </a:rPr>
              <a:t>CNN provides superior end‑to‑end performance</a:t>
            </a:r>
          </a:p>
          <a:p>
            <a:r>
              <a:rPr lang="en-US" sz="2400">
                <a:solidFill>
                  <a:schemeClr val="tx1"/>
                </a:solidFill>
                <a:latin typeface="Arial"/>
              </a:rPr>
              <a:t>Cross‑validation is critical for fair model selection</a:t>
            </a:r>
          </a:p>
          <a:p>
            <a:r>
              <a:rPr lang="en-US" sz="2400">
                <a:solidFill>
                  <a:schemeClr val="tx1"/>
                </a:solidFill>
                <a:latin typeface="Arial"/>
              </a:rPr>
              <a:t>Demonstrates trade‑offs between classical ML and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cd9a80-2508-439a-9c52-d724adc561a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C64F5A4008C647AF1EA52DA109DD16" ma:contentTypeVersion="5" ma:contentTypeDescription="Create a new document." ma:contentTypeScope="" ma:versionID="a2085046db591e5f9307c563af0c7bd2">
  <xsd:schema xmlns:xsd="http://www.w3.org/2001/XMLSchema" xmlns:xs="http://www.w3.org/2001/XMLSchema" xmlns:p="http://schemas.microsoft.com/office/2006/metadata/properties" xmlns:ns3="6bcd9a80-2508-439a-9c52-d724adc561a1" targetNamespace="http://schemas.microsoft.com/office/2006/metadata/properties" ma:root="true" ma:fieldsID="9ef5bc62690a109ffe396377144b20c3" ns3:_="">
    <xsd:import namespace="6bcd9a80-2508-439a-9c52-d724adc561a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cd9a80-2508-439a-9c52-d724adc561a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37369A-E2AA-499D-A556-98C3D9A7D0E3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6bcd9a80-2508-439a-9c52-d724adc561a1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1342656-7194-42CA-BA9D-F872237FC2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590EB0-ECC2-4E28-8BE2-7AB40A9AC03A}">
  <ds:schemaRefs>
    <ds:schemaRef ds:uri="6bcd9a80-2508-439a-9c52-d724adc561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全屏显示(4:3)</PresentationFormat>
  <Paragraphs>85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等线</vt:lpstr>
      <vt:lpstr>Arial</vt:lpstr>
      <vt:lpstr>Calibri</vt:lpstr>
      <vt:lpstr>Cambria Math</vt:lpstr>
      <vt:lpstr>Montserrat</vt:lpstr>
      <vt:lpstr>Montserrat Black</vt:lpstr>
      <vt:lpstr>Montserrat ExtraBold</vt:lpstr>
      <vt:lpstr>Office Theme</vt:lpstr>
      <vt:lpstr>NYU Bold</vt:lpstr>
      <vt:lpstr>Final Project: PCA + MLP vs CNN for Object Localization</vt:lpstr>
      <vt:lpstr>Problem Statement</vt:lpstr>
      <vt:lpstr>Dataset &amp; Task Definition</vt:lpstr>
      <vt:lpstr>Problem Formulation</vt:lpstr>
      <vt:lpstr>Training Procedure</vt:lpstr>
      <vt:lpstr>Training Procedure</vt:lpstr>
      <vt:lpstr>PCA + MLP</vt:lpstr>
      <vt:lpstr>PCA Component Selection</vt:lpstr>
      <vt:lpstr> End‑to‑End CNN</vt:lpstr>
      <vt:lpstr>Training Procedure</vt:lpstr>
      <vt:lpstr>Training Procedure</vt:lpstr>
      <vt:lpstr>Evaluation Results</vt:lpstr>
      <vt:lpstr>Visual Evaluation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Peijie Ma</dc:creator>
  <cp:keywords/>
  <dc:description>generated using python-pptx</dc:description>
  <cp:lastModifiedBy>Max Ma</cp:lastModifiedBy>
  <cp:revision>1</cp:revision>
  <dcterms:created xsi:type="dcterms:W3CDTF">2013-01-27T09:14:16Z</dcterms:created>
  <dcterms:modified xsi:type="dcterms:W3CDTF">2025-12-18T02:34:38Z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0x01010035C64F5A4008C647AF1EA52DA109DD16</vt:lpwstr>
  </property>
</Properties>
</file>